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3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BiSheng 毕昇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4D8"/>
                </a:solidFill>
              </a:defRPr>
            </a:pPr>
            <a:r>
              <a:t>企业级 LLM 应用开发平台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C4DE"/>
                </a:solidFill>
              </a:defRPr>
            </a:pPr>
            <a:r>
              <a:t>“毕昇”是活字印刷术的发明人，活字印刷术为人类知识的传递起到了巨大的推动作用。</a:t>
            </a:r>
            <a:br/>
            <a:r>
              <a:t>我们希望 BiSheng 同样能为智能应用的广泛落地提供有力支撑。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E338A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平台定位与愿景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核心能力亮点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灵思 Agent（Linsight）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Workflow 工作流引擎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51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知识库与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971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系统架构总览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91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91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运行时拓扑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11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技术栈详解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931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DDD 模块模式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异步任务架构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API 路由架构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892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企业级特性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212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部署与运维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32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应用场景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521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生态与社区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172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172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平台定位与愿景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BiSheng（毕昇）是一款开源 LLM 应用开发平台，主攻企业场景，已有大量行业头部组织及世界500强企业在使用。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E293B"/>
                </a:solidFill>
              </a:defRPr>
            </a:pPr>
            <a:r>
              <a:t>•  开源：完整源码开放，支持私有化部署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E293B"/>
                </a:solidFill>
              </a:defRPr>
            </a:pPr>
            <a:r>
              <a:t>•  企业级：安全审查、细粒度权限、SSO/LDAP、多租户隔离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E293B"/>
                </a:solidFill>
              </a:defRPr>
            </a:pPr>
            <a:r>
              <a:t>•  DevOps：从开发到运维一体化的 LLM 应用生命周期管理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800">
                <a:solidFill>
                  <a:srgbClr val="1E293B"/>
                </a:solidFill>
              </a:defRPr>
            </a:pPr>
            <a:r>
              <a:t>•  应用场景：文档审核、报告生成、多智能体协作、工单问答、客服辅助…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23774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开源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5303520"/>
            <a:ext cx="2377440" cy="73152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企业级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5303520"/>
            <a:ext cx="237744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5303520"/>
            <a:ext cx="2377440" cy="7315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多场景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核心能力亮点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灵思 Agent（Linsight）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专家级品味的通用 Agent，</a:t>
            </a:r>
            <a:br/>
            <a:r>
              <a:t>通过 AGL 框架融入领域专家经验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82880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66160" y="2103120"/>
            <a:ext cx="548640" cy="54864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Workflow 工作流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3774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独立完备的编排框架，</a:t>
            </a:r>
            <a:br/>
            <a:r>
              <a:t>支持成环、并行、跑批、Human-in-the-loop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知识库与 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774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双路召回（向量 + BM25），</a:t>
            </a:r>
            <a:br/>
            <a:r>
              <a:t>高精度文档解析，私有化 OCR 模型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28800"/>
            <a:ext cx="26517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35440" y="21031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0116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企业级特性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60" y="237744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RBAC + ReBAC、多租户、审计、</a:t>
            </a:r>
            <a:br/>
            <a:r>
              <a:t>SSO/LDAP、漏洞扫描、高可用部署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支持数百个组件与数千个参数的深度调优，平台支持高复杂度企业应用场景构建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灵思 Agent（Linsight）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</a:defRPr>
            </a:pPr>
            <a:r>
              <a:t>通过 AGL（Agent Guidance Language）框架，将领域专家的偏好、经验与业务逻辑融入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专家级理解：Agent 处理任务时具备「专家级理解」能力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AGL 框架：将领域知识、偏好、规则编码为 Agent 可执行指令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独立 Worker 进程：通过 Redis 队列供给推理任务，与主流程解耦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支持多轮对话、中间干预、反馈循环优化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572000" cy="36576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338A"/>
                </a:solidFill>
              </a:defRPr>
            </a:pPr>
            <a:r>
              <a:t>Linsight 运行时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├─ Redis Queue ← 任务输入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├─ AGL 解析器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├─ LangGraph 执行引擎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├─ 专家知识注入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├─ 多轮对话管理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└─ MySQL → 状态持久化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Workflow 工作流引擎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独立完备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一个框架实现各类任务，无需拆分 chatflow /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Human-in-the-loop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支持用户在执行中间过程干预和反馈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强大编排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成环、并行、跑批、判断逻辑任意组合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377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符合直觉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画圈成环、并列即并行、多选即批量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执行引擎：LangGraph 0.3.x  |  支持多类型输入输出、撰写报告、内容审核等复杂场景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知识库与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双路召回：向量搜索（Milvus）+ 全文检索（BM25/Elasticsearch）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向量存储：Milvus 2.5 稠密向量检索，支持多种 Embedding 模型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全文索引：Elasticsearch 8.12 BM25 关键词检索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文档解析：5年海量数据沉淀，高精度印刷体/手写体/表格/版式/印章识别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异步处理：Celery knowledge_celery 队列消费解析任务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>
                <a:solidFill>
                  <a:srgbClr val="1E293B"/>
                </a:solidFill>
              </a:defRPr>
            </a:pPr>
            <a:r>
              <a:t>•  文件存储：MinIO S3 兼容对象存储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828800"/>
            <a:ext cx="4572000" cy="41148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338A"/>
                </a:solidFill>
              </a:defRPr>
            </a:pPr>
            <a:r>
              <a:t>RAG Pipeline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文档上传 (MinIO)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文档解析 (Celery Worker)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Chunk 分割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Embedding 生成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向量写入 (Milvus)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全文索引 (ES)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双路召回 + 重排序</a:t>
            </a:r>
          </a:p>
          <a:p>
            <a:pPr>
              <a:spcBef>
                <a:spcPts val="300"/>
              </a:spcBef>
              <a:defRPr sz="1400">
                <a:solidFill>
                  <a:srgbClr val="1E293B"/>
                </a:solidFill>
              </a:defRPr>
            </a:pPr>
            <a:r>
              <a:t>↓ LLM 生成回答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系统架构总览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10972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</a:defRPr>
            </a:pPr>
            <a:r>
              <a:t>客户端层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Nginx (:8860) → Platform (:3001) | Client (:4001)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91440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154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应用层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FastAPI (:7860) + Celery Workers + Linsight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91440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526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</a:defRPr>
            </a:pPr>
            <a:r>
              <a:t>存储层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MySQL | Redis | Milvus | ES | MinIO | OpenFGA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前后端分离 + 异步任务处理的分层架构，7 个运行时进程组 + 5 个基础设施服务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运行时拓扑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:8860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反向代理，路由分发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:3001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管理/构建 UI (React+Vite)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:4001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48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终端用户 Chat UI (React+Vite)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108960"/>
            <a:ext cx="73152" cy="1188720"/>
          </a:xfrm>
          <a:prstGeom prst="rect">
            <a:avLst/>
          </a:prstGeom>
          <a:solidFill>
            <a:srgbClr val="0E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338A"/>
                </a:solidFill>
              </a:defRPr>
            </a:pPr>
            <a: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:7860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后端 API，JWT认证，路由分派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10896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1089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Celery 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knowledge_celery 队列消费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10896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10896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Celery 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3611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workflow_celery 队列消费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57200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Celery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--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74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默认队列（遥测统计）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45720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457200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Beat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074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定时任务调度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572000"/>
            <a:ext cx="35661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457200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Linsight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4663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5074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灵思智能体推理进程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技术栈详解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</a:defRPr>
            </a:pPr>
            <a:r>
              <a:t>后端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27432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E338A"/>
                </a:solidFill>
              </a:defRPr>
            </a:pPr>
            <a:r>
              <a:t>用途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Python 3.11+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3774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运行时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7432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Web 框架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SQLModel / SQLAlchemy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31089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Celery 5.x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4747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异步任务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LangGraph 0.3.x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84048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工作流引擎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Pydantic v2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42062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数据校验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uv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5720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依赖管理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前端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E338A"/>
                </a:solidFill>
              </a:defRPr>
            </a:pPr>
            <a:r>
              <a:t>用途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7744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React 18 + TypeScript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23774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UI 框架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Vite (SWC)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7432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构建工具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10896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Zustand / Recoil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0" y="31089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状态管理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Radix UI / shadcn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4747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组件库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Tailwind CSS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384048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原子化样式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0624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@xyflow/react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420624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工作流画布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572000"/>
            <a:ext cx="228600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i18next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国际化 中/英/日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基础设施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394960"/>
            <a:ext cx="22860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服务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394960"/>
            <a:ext cx="82296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1">
                <a:solidFill>
                  <a:srgbClr val="0E338A"/>
                </a:solidFill>
              </a:defRPr>
            </a:pPr>
            <a:r>
              <a:t>端口  |  用途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715000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MySQL 8.0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17520" y="571500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3306 | 关系型数据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035040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Redis 7.0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603504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6379 | 缓存/Broker/会话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355080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Milvus 2.5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635508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19530 | 向量存储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6675120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ES 8.12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667512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9200 | 全文检索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995160"/>
            <a:ext cx="2286000" cy="320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1E293B"/>
                </a:solidFill>
              </a:defRPr>
            </a:pPr>
            <a:r>
              <a:t>MinIO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6995160"/>
            <a:ext cx="8229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1E293B"/>
                </a:solidFill>
              </a:defRPr>
            </a:pPr>
            <a:r>
              <a:t>9000 | S3 对象存储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DDD 模块模式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</a:defRPr>
            </a:pPr>
            <a:r>
              <a:t>后端业务模块遵循领域驱动设计（DDD）的分层约定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73152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api/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68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路由定义与请求处理，依赖注入（认证、权限）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73152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domain/models/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领域模型（ORM 实体）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domain/schemas/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Pydantic 数据传输对象（DTO）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0916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800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domain/services/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800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领域服务（核心业务逻辑）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0515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73152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domain/repositories/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577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仓储层（数据访问抽象）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</a:defRPr>
            </a:pPr>
            <a:r>
              <a:t>调用链路：Router → Endpoint → Service → Repository → 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异步任务架构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knowledge_celery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文档解析、Embedding 生成、向量写入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workflow_celery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工作流 DAG 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5029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celery (默认)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遥测统计收集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Beat 定时任务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E293B"/>
                </a:solidFill>
              </a:defRPr>
            </a:pPr>
            <a:r>
              <a:t>•  每日 00:30 同步用户/知识库/应用增量遥测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E293B"/>
                </a:solidFill>
              </a:defRPr>
            </a:pPr>
            <a:r>
              <a:t>•  每日 00:30 同步用户交互明细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500">
                <a:solidFill>
                  <a:srgbClr val="1E293B"/>
                </a:solidFill>
              </a:defRPr>
            </a:pPr>
            <a:r>
              <a:t>•  每日 05:30 同步情报中心文章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Broker: Redis  |  消费者独立进程  |  支持水平扩展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API 路由架构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</a:defRPr>
            </a:pPr>
            <a:r>
              <a:t>v1 路由 (/api/v1) — 面向前端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29 个子路由，完整 CRUD 操作界面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对话、知识库、工作流、助手、模型管理…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用户/组权限、审计、报告、标签…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</a:defRPr>
            </a:pPr>
            <a:r>
              <a:t>v2 路由 (/api/v2) — 外部集成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6 个子路由，RPC 风格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知识库、对话、助手、工作流、LLM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含 OpenAI 兼容接口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中间件栈：CORS → CustomMiddleware (日志 + TraceID) → WebSocketLoggingMiddleware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启动生命周期：lifespan 上下文管理器编排：初始化基础设施 → 初始化默认数据 → 运行 → 逆序关闭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企业级特性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73152" cy="11887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</a:defRPr>
            </a:pPr>
            <a:r>
              <a:t>权限体系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RBAC + ReBAC (OpenFGA)，细粒度权限控制，每次请求经过 PermissionService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45920"/>
            <a:ext cx="73152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多租户隔离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通过 ContextVar 自动注入租户上下文，数据层自动过滤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73152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认证集成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SSO / LDAP / OAuth2，支持企业现有身份体系对接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0175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017520"/>
            <a:ext cx="73152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安全审查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内容安全检测、漏洞扫描修复、Fernet 密码加密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73152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审计与合规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审计日志、操作轨迹、数据备份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4389120"/>
            <a:ext cx="73152" cy="1188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高可用部署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892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Docker Compose / K8s，水平扩展，监控统计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部署与运维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</a:defRPr>
            </a:pPr>
            <a:r>
              <a:t>快速安装（Docker Compose）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CPU &gt;= 8 Core  |  RAM &gt;= 32 GB  |  Docker 19.03.9+  |  Docker Compose 1.25.1+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一键启动：docker compose -f docker-compose.yml -p bisheng up -d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访问 http://IP:3001，第一个注册用户自动成为系统 admin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600">
                <a:solidFill>
                  <a:srgbClr val="1E293B"/>
                </a:solidFill>
              </a:defRPr>
            </a:pPr>
            <a:r>
              <a:t>•  默认安装 ES + Milvus + OnlyOffice 等第三方组件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架构守护（Auto-enforced）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arch-guard.sh 在每次代码修改后自动执行，强制约束万法（DDD 分层、权限、多租户、存储调用规范）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文档审核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智能审查文档内容合规性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报告生成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固定版式自动生成报告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64592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多智能体协作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多 Agent 协同完成复杂任务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制度更新差异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规范制度版本差异比对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0896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10896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工单问答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自动化 IT 工单处理与回答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0896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10896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客服辅助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智能客服对话与引导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310896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3108960"/>
            <a:ext cx="265176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</a:defRPr>
            </a:pPr>
            <a:r>
              <a:t>会议纪要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自动提取会议纪要与待办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10896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3108960"/>
            <a:ext cx="26517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</a:defRPr>
            </a:pPr>
            <a:r>
              <a:t>简历筛选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批量简历智能筛选与评分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57200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572000"/>
            <a:ext cx="26517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数据治理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非结构化数据治理与挖掘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57200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91840" y="4572000"/>
            <a:ext cx="26517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通话分析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通话记录智能分析与归档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26480" y="457200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457200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知识挖掘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企业知识库深度检索与推荐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20" y="4572000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61120" y="4572000"/>
            <a:ext cx="265176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</a:defRPr>
            </a:pPr>
            <a:r>
              <a:t>数据分析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5166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</a:defRPr>
            </a:pPr>
            <a:r>
              <a:t>自然语言驱动的数据查询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E338A"/>
                </a:solidFill>
              </a:defRPr>
            </a:pPr>
            <a:r>
              <a:t>生态与社区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7772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933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开源社区：大量企业场景落地最佳实践分享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743200"/>
            <a:ext cx="73152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07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应用案例/场景库：开放的应用案例与最佳实践库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5760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221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依赖感谢：LangChain、Langflow、Unstructured、LLaMA-Factory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73152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36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</a:defRPr>
            </a:pPr>
            <a:r>
              <a:t>商业版：通过 BISHENG_PRO 环境变量启用，插入 Java 网关、SSO 等企业增强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33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</a:defRPr>
            </a:pPr>
            <a:r>
              <a:t>BiSheng：开源企业级 LLM 应用开发平台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核心优势：灵思 Agent + Workflow 引擎 + 双路召 RAG + 企业级特性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架构清晰：前后端分离 + DDD + Celery 异步任务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技术现代：Python 3.11 / FastAPI / LangGraph / React 18 /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存储多元：MySQL + Redis + Milvus + ES + MinIO + OpenFGA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守护有力：arch-guard.sh 强制架构约束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74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▸  生态开放：社区最佳实践 + 商业版增强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</a:defRPr>
            </a:pPr>
            <a:r>
              <a:t>github.com/dataelement/bisheng    |    文档 Wiki    |    应用案例库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